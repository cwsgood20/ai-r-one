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66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1520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85800" y="120700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kern="0" spc="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방향과 </a:t>
            </a:r>
            <a:r>
              <a:rPr lang="en-US" sz="1300" kern="0" spc="200" dirty="0" err="1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타당성</a:t>
            </a:r>
            <a:r>
              <a:rPr lang="en-US" sz="1300" kern="0" spc="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kern="0" spc="200" dirty="0" err="1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AI-R One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685800" y="269748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 내 AI 활용 전반을 통제하는 AI Security Platform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5800" y="3310128"/>
            <a:ext cx="1481328" cy="329184"/>
          </a:xfrm>
          <a:prstGeom prst="roundRect">
            <a:avLst>
              <a:gd name="adj" fmla="val 50000"/>
            </a:avLst>
          </a:prstGeom>
          <a:solidFill>
            <a:srgbClr val="2B3A7A"/>
          </a:solidFill>
          <a:ln w="9525">
            <a:solidFill>
              <a:srgbClr val="4A5D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85800" y="3310128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Security Manager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304288" y="3310128"/>
            <a:ext cx="1298448" cy="329184"/>
          </a:xfrm>
          <a:prstGeom prst="roundRect">
            <a:avLst>
              <a:gd name="adj" fmla="val 50000"/>
            </a:avLst>
          </a:prstGeom>
          <a:solidFill>
            <a:srgbClr val="2B3A7A"/>
          </a:solidFill>
          <a:ln w="9525">
            <a:solidFill>
              <a:srgbClr val="4A5D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304288" y="331012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N/W Monitor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739896" y="3310128"/>
            <a:ext cx="1078992" cy="329184"/>
          </a:xfrm>
          <a:prstGeom prst="roundRect">
            <a:avLst>
              <a:gd name="adj" fmla="val 50000"/>
            </a:avLst>
          </a:prstGeom>
          <a:solidFill>
            <a:srgbClr val="2B3A7A"/>
          </a:solidFill>
          <a:ln w="9525">
            <a:solidFill>
              <a:srgbClr val="4A5D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739896" y="3310128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Proxy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956048" y="3310128"/>
            <a:ext cx="1664208" cy="329184"/>
          </a:xfrm>
          <a:prstGeom prst="roundRect">
            <a:avLst>
              <a:gd name="adj" fmla="val 50000"/>
            </a:avLst>
          </a:prstGeom>
          <a:solidFill>
            <a:srgbClr val="2B3A7A"/>
          </a:solidFill>
          <a:ln w="9525">
            <a:solidFill>
              <a:srgbClr val="4A5D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956048" y="3310128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Remote Web Proxy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757416" y="3310128"/>
            <a:ext cx="1170432" cy="329184"/>
          </a:xfrm>
          <a:prstGeom prst="roundRect">
            <a:avLst>
              <a:gd name="adj" fmla="val 50000"/>
            </a:avLst>
          </a:prstGeom>
          <a:solidFill>
            <a:srgbClr val="2B3A7A"/>
          </a:solidFill>
          <a:ln w="9525">
            <a:solidFill>
              <a:srgbClr val="4A5D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757416" y="3310128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Proxy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580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07. 09  | </a:t>
            </a:r>
            <a:r>
              <a:rPr lang="ko-KR" altLang="en-US" sz="1100" dirty="0">
                <a:solidFill>
                  <a:srgbClr val="8FA3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사업전략팀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 및 문제 정의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업무 활용이 전사로 확산되며, 기존 보안 체계로 통제할 수 없는 새로운 위험이 발생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51760" cy="2286000"/>
          </a:xfrm>
          <a:prstGeom prst="roundRect">
            <a:avLst>
              <a:gd name="adj" fmla="val 3600"/>
            </a:avLst>
          </a:prstGeom>
          <a:solidFill>
            <a:srgbClr val="F7F9FE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85800" y="1481328"/>
            <a:ext cx="475488" cy="475488"/>
          </a:xfrm>
          <a:prstGeom prst="ellipse">
            <a:avLst/>
          </a:prstGeom>
          <a:solidFill>
            <a:srgbClr val="D1454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85800" y="14813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12140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Shadow AI 확산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633472"/>
            <a:ext cx="244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 err="1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</a:t>
            </a:r>
            <a:r>
              <a:rPr lang="en-US" sz="10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AI가 어디서 쓰이는지 </a:t>
            </a:r>
            <a:r>
              <a:rPr lang="en-US" sz="1050" dirty="0" err="1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파악</a:t>
            </a:r>
            <a:r>
              <a:rPr lang="en-US" sz="10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불가</a:t>
            </a:r>
            <a:endParaRPr lang="en-US" sz="1050" dirty="0">
              <a:solidFill>
                <a:srgbClr val="5A6478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91840" y="1234440"/>
            <a:ext cx="2651760" cy="2286000"/>
          </a:xfrm>
          <a:prstGeom prst="roundRect">
            <a:avLst>
              <a:gd name="adj" fmla="val 3600"/>
            </a:avLst>
          </a:prstGeom>
          <a:solidFill>
            <a:srgbClr val="F7F9FE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520440" y="1481328"/>
            <a:ext cx="475488" cy="475488"/>
          </a:xfrm>
          <a:prstGeom prst="ellipse">
            <a:avLst/>
          </a:prstGeom>
          <a:solidFill>
            <a:srgbClr val="C88A1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520440" y="14813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0440" y="212140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민감정보 유출 경로 다변화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20440" y="2633472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AI, </a:t>
            </a:r>
            <a:r>
              <a:rPr lang="en-US" sz="1050" dirty="0" err="1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설치형</a:t>
            </a:r>
            <a:r>
              <a:rPr lang="en-US" sz="10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Agent 등 </a:t>
            </a:r>
            <a:r>
              <a:rPr lang="en-US" sz="1050" dirty="0" err="1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유출</a:t>
            </a:r>
            <a:r>
              <a:rPr lang="en-US" sz="10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</a:t>
            </a:r>
            <a:r>
              <a:rPr lang="en-US" sz="10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다변화</a:t>
            </a:r>
            <a:r>
              <a:rPr lang="en-US" sz="10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-&gt; 단일 DLP로 대응 불가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1234440"/>
            <a:ext cx="2651760" cy="2286000"/>
          </a:xfrm>
          <a:prstGeom prst="roundRect">
            <a:avLst>
              <a:gd name="adj" fmla="val 3600"/>
            </a:avLst>
          </a:prstGeom>
          <a:solidFill>
            <a:srgbClr val="F7F9FE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355080" y="1481328"/>
            <a:ext cx="475488" cy="475488"/>
          </a:xfrm>
          <a:prstGeom prst="ellipse">
            <a:avLst/>
          </a:prstGeom>
          <a:solidFill>
            <a:srgbClr val="6C4D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355080" y="14813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55080" y="212140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비용·거버넌스 부재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86500" y="26334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부서별 LLM API 사용 </a:t>
            </a:r>
            <a:r>
              <a:rPr lang="en-US" sz="1050" dirty="0" err="1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비용이</a:t>
            </a:r>
            <a:r>
              <a:rPr lang="en-US" sz="10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증가</a:t>
            </a:r>
            <a:endParaRPr lang="en-US" sz="1050" dirty="0">
              <a:solidFill>
                <a:srgbClr val="5A6478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Provider 종속·감사 대응 체계 부재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794760"/>
            <a:ext cx="8229600" cy="777240"/>
          </a:xfrm>
          <a:prstGeom prst="roundRect">
            <a:avLst>
              <a:gd name="adj" fmla="val 10588"/>
            </a:avLst>
          </a:prstGeom>
          <a:solidFill>
            <a:srgbClr val="F0F4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77240" y="379476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중심 AI DLP를 넘어, </a:t>
            </a:r>
            <a:r>
              <a:rPr lang="en-US" sz="1300" dirty="0" err="1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사용자·Agent</a:t>
            </a: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··API·비용까지 포괄하는 </a:t>
            </a:r>
            <a:r>
              <a:rPr lang="en-US" sz="1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AI 보안 </a:t>
            </a:r>
            <a:r>
              <a:rPr lang="en-US" sz="1300" b="1" dirty="0" err="1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</a:t>
            </a:r>
            <a:r>
              <a:rPr lang="en-US" sz="1300" dirty="0" err="1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dirty="0" err="1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기회 — AI DLP에서 통합 플랫폼으로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구매층이 보안팀에서 CISO·CIO·AI 추진 조직으로 확대되는 상위 카테고리 선점 기회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3047724"/>
              </p:ext>
            </p:extLst>
          </p:nvPr>
        </p:nvGraphicFramePr>
        <p:xfrm>
          <a:off x="457200" y="1234440"/>
          <a:ext cx="5989320" cy="2852928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DLP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Security Platform (AI-R One)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제품 정의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사용 시 데이터 유출 방지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기업 내 AI 활용 전반의 통합 거버넌스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 범위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중심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사용자·데이터·Agent·Tool·API·비용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 대상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Prompt, 첨부파일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사용자, AI 서비스, Agent, MCP, API, 비용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 대상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ChatGPT 등 AI 서비스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서비스 + Agent + LLM API + 내부 AI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구매 부서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보안팀, 개인정보보호팀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CISO·CIO 조직, AI 추진 조직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75120" y="1234440"/>
            <a:ext cx="2011680" cy="1698414"/>
          </a:xfrm>
          <a:prstGeom prst="roundRect">
            <a:avLst>
              <a:gd name="adj" fmla="val 5143"/>
            </a:avLst>
          </a:prstGeom>
          <a:solidFill>
            <a:srgbClr val="1E2761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6858000" y="1417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 의사결정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858000" y="16916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CISO · CIO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221284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전환 기여 + 가성비 +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거버넌스 통합 요구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AI-R One 플랫폼 개요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AI 서비스 · SaaS AI · 내부 AI 시스템 · 설치형 Agent · LLM API를 하나의 플랫폼에서 통제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1691640"/>
          </a:xfrm>
          <a:prstGeom prst="roundRect">
            <a:avLst>
              <a:gd name="adj" fmla="val 4865"/>
            </a:avLst>
          </a:prstGeom>
          <a:solidFill>
            <a:srgbClr val="F0F4FD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13232" y="1481328"/>
            <a:ext cx="457200" cy="457200"/>
          </a:xfrm>
          <a:prstGeom prst="ellipse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13232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13232" y="20848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정책은 하위 제품에서 관리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" y="241401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하위 제품이 자기 영역(네트워크·단말·웹 격리·API)의 규정과 정책을 소유하고 설정·배포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234440"/>
            <a:ext cx="4023360" cy="1691640"/>
          </a:xfrm>
          <a:prstGeom prst="roundRect">
            <a:avLst>
              <a:gd name="adj" fmla="val 4865"/>
            </a:avLst>
          </a:prstGeom>
          <a:solidFill>
            <a:srgbClr val="F0F4FD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919472" y="1481328"/>
            <a:ext cx="457200" cy="457200"/>
          </a:xfrm>
          <a:prstGeom prst="ellipse">
            <a:avLst/>
          </a:prstGeom>
          <a:solidFill>
            <a:srgbClr val="6C4D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919472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19472" y="20848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대시보드·모니터링·검색은 전역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19472" y="241401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제품의 이벤트·로그·정책 결과를 공통 계층으로 수집 — 통합 </a:t>
            </a:r>
            <a:r>
              <a:rPr lang="en-US" sz="1050" dirty="0" err="1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대시보드·모니터링·검색</a:t>
            </a:r>
            <a:r>
              <a:rPr lang="en-US" sz="10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0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규정관리</a:t>
            </a:r>
            <a:r>
              <a:rPr lang="en-US" sz="10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제공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154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· 이해관계자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520440"/>
            <a:ext cx="2651760" cy="960120"/>
          </a:xfrm>
          <a:prstGeom prst="roundRect">
            <a:avLst>
              <a:gd name="adj" fmla="val 8571"/>
            </a:avLst>
          </a:prstGeom>
          <a:solidFill>
            <a:srgbClr val="F7F9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658368" y="37673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58368" y="3767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34440" y="3675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 의사결정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34440" y="39502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CIO · CISO · 보안팀장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91840" y="3520440"/>
            <a:ext cx="2651760" cy="960120"/>
          </a:xfrm>
          <a:prstGeom prst="roundRect">
            <a:avLst>
              <a:gd name="adj" fmla="val 8571"/>
            </a:avLst>
          </a:prstGeom>
          <a:solidFill>
            <a:srgbClr val="F7F9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3493008" y="3767328"/>
            <a:ext cx="457200" cy="457200"/>
          </a:xfrm>
          <a:prstGeom prst="ellipse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3493008" y="3767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069080" y="3675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운영자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069080" y="39502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보안관리자 · 시스템 운영자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26480" y="3520440"/>
            <a:ext cx="2651760" cy="960120"/>
          </a:xfrm>
          <a:prstGeom prst="roundRect">
            <a:avLst>
              <a:gd name="adj" fmla="val 8571"/>
            </a:avLst>
          </a:prstGeom>
          <a:solidFill>
            <a:srgbClr val="F7F9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6327648" y="3767328"/>
            <a:ext cx="457200" cy="457200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327648" y="3767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현업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03720" y="3675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현업 사용자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03720" y="39502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Staff · 연구개발 · 사업부서 · 개발자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 구조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계층이 전 제품의 데이터를 수집하고, 정책은 각 하위 제품이 담당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96012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85800" y="12801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AI-R One — 플랫폼 공통 계층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572768"/>
            <a:ext cx="1847088" cy="438912"/>
          </a:xfrm>
          <a:prstGeom prst="roundRect">
            <a:avLst>
              <a:gd name="adj" fmla="val 16667"/>
            </a:avLst>
          </a:prstGeom>
          <a:solidFill>
            <a:srgbClr val="2B3A7A"/>
          </a:solidFill>
          <a:ln w="9525">
            <a:solidFill>
              <a:srgbClr val="4A5D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85800" y="1572768"/>
            <a:ext cx="184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대시보드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70048" y="1572768"/>
            <a:ext cx="1847088" cy="438912"/>
          </a:xfrm>
          <a:prstGeom prst="roundRect">
            <a:avLst>
              <a:gd name="adj" fmla="val 16667"/>
            </a:avLst>
          </a:prstGeom>
          <a:solidFill>
            <a:srgbClr val="2B3A7A"/>
          </a:solidFill>
          <a:ln w="9525">
            <a:solidFill>
              <a:srgbClr val="4A5D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670048" y="1572768"/>
            <a:ext cx="184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모니터링·알림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54296" y="1572768"/>
            <a:ext cx="1847088" cy="438912"/>
          </a:xfrm>
          <a:prstGeom prst="roundRect">
            <a:avLst>
              <a:gd name="adj" fmla="val 16667"/>
            </a:avLst>
          </a:prstGeom>
          <a:solidFill>
            <a:srgbClr val="2B3A7A"/>
          </a:solidFill>
          <a:ln w="9525">
            <a:solidFill>
              <a:srgbClr val="4A5D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654296" y="1572768"/>
            <a:ext cx="184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검색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38544" y="1572768"/>
            <a:ext cx="1847088" cy="438912"/>
          </a:xfrm>
          <a:prstGeom prst="roundRect">
            <a:avLst>
              <a:gd name="adj" fmla="val 16667"/>
            </a:avLst>
          </a:prstGeom>
          <a:solidFill>
            <a:srgbClr val="2B3A7A"/>
          </a:solidFill>
          <a:ln w="9525">
            <a:solidFill>
              <a:srgbClr val="4A5D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638544" y="1572768"/>
            <a:ext cx="184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 · 리포트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17136" y="2243667"/>
            <a:ext cx="0" cy="628226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4800600" y="2194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8E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· 로그 · 정책 처리 결과 수집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2985516"/>
            <a:ext cx="1554480" cy="1417320"/>
          </a:xfrm>
          <a:prstGeom prst="roundRect">
            <a:avLst>
              <a:gd name="adj" fmla="val 5806"/>
            </a:avLst>
          </a:prstGeom>
          <a:solidFill>
            <a:srgbClr val="F7F9FE"/>
          </a:solidFill>
          <a:ln w="12700">
            <a:solidFill>
              <a:srgbClr val="D9E1F2"/>
            </a:solidFill>
            <a:prstDash val="solid"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30936" y="3113532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4F8EF7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18" name="Text 16"/>
          <p:cNvSpPr/>
          <p:nvPr/>
        </p:nvSpPr>
        <p:spPr>
          <a:xfrm>
            <a:off x="630936" y="311353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1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0936" y="3442716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Security Manager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388162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 err="1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민감정보</a:t>
            </a:r>
            <a:r>
              <a:rPr lang="en-US" sz="8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850" dirty="0" err="1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검사규정</a:t>
            </a:r>
            <a:r>
              <a:rPr lang="en-US" sz="8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허브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185416" y="2985516"/>
            <a:ext cx="1554480" cy="1417320"/>
          </a:xfrm>
          <a:prstGeom prst="roundRect">
            <a:avLst>
              <a:gd name="adj" fmla="val 5806"/>
            </a:avLst>
          </a:prstGeom>
          <a:solidFill>
            <a:srgbClr val="F7F9FE"/>
          </a:solidFill>
          <a:ln w="12700">
            <a:solidFill>
              <a:srgbClr val="D9E1F2"/>
            </a:solidFill>
            <a:prstDash val="solid"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C338131D-4BD4-9FF1-BC36-13FE7CDA2C91}"/>
              </a:ext>
            </a:extLst>
          </p:cNvPr>
          <p:cNvGrpSpPr/>
          <p:nvPr/>
        </p:nvGrpSpPr>
        <p:grpSpPr>
          <a:xfrm>
            <a:off x="2313432" y="3113532"/>
            <a:ext cx="765048" cy="237744"/>
            <a:chOff x="2267712" y="2798064"/>
            <a:chExt cx="765048" cy="237744"/>
          </a:xfrm>
        </p:grpSpPr>
        <p:sp>
          <p:nvSpPr>
            <p:cNvPr id="23" name="Shape 21"/>
            <p:cNvSpPr/>
            <p:nvPr/>
          </p:nvSpPr>
          <p:spPr>
            <a:xfrm>
              <a:off x="2267712" y="2798064"/>
              <a:ext cx="749808" cy="237744"/>
            </a:xfrm>
            <a:prstGeom prst="roundRect">
              <a:avLst>
                <a:gd name="adj" fmla="val 50000"/>
              </a:avLst>
            </a:prstGeom>
            <a:solidFill>
              <a:srgbClr val="4F8EF7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Text 22"/>
            <p:cNvSpPr/>
            <p:nvPr/>
          </p:nvSpPr>
          <p:spPr>
            <a:xfrm>
              <a:off x="2282952" y="2798064"/>
              <a:ext cx="74980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단계 1</a:t>
              </a:r>
              <a:endParaRPr lang="en-US" sz="950" dirty="0"/>
            </a:p>
          </p:txBody>
        </p:sp>
      </p:grpSp>
      <p:sp>
        <p:nvSpPr>
          <p:cNvPr id="25" name="Text 23"/>
          <p:cNvSpPr/>
          <p:nvPr/>
        </p:nvSpPr>
        <p:spPr>
          <a:xfrm>
            <a:off x="2313432" y="3442716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N/W Monitor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313432" y="388162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</a:t>
            </a:r>
            <a:r>
              <a:rPr lang="en-US" sz="850" dirty="0" err="1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트래픽</a:t>
            </a:r>
            <a:r>
              <a:rPr lang="en-US" sz="8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850" dirty="0" err="1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endParaRPr lang="en-US" sz="850" dirty="0">
              <a:solidFill>
                <a:srgbClr val="5A6478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Shadow AI 탐지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867912" y="2985516"/>
            <a:ext cx="1554480" cy="1417320"/>
          </a:xfrm>
          <a:prstGeom prst="roundRect">
            <a:avLst>
              <a:gd name="adj" fmla="val 5806"/>
            </a:avLst>
          </a:prstGeom>
          <a:solidFill>
            <a:srgbClr val="F7F9FE"/>
          </a:solidFill>
          <a:ln w="12700">
            <a:solidFill>
              <a:srgbClr val="D9E1F2"/>
            </a:solidFill>
            <a:prstDash val="solid"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3995928" y="3113532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6C4D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3995928" y="311353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2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995928" y="3442716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Proxy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995928" y="388162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단말 설치형 AI Agent 통제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550408" y="2985516"/>
            <a:ext cx="1554480" cy="1417320"/>
          </a:xfrm>
          <a:prstGeom prst="roundRect">
            <a:avLst>
              <a:gd name="adj" fmla="val 5806"/>
            </a:avLst>
          </a:prstGeom>
          <a:solidFill>
            <a:srgbClr val="F7F9FE"/>
          </a:solidFill>
          <a:ln w="12700">
            <a:solidFill>
              <a:srgbClr val="D9E1F2"/>
            </a:solidFill>
            <a:prstDash val="solid"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5678424" y="3113532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6C4D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5678424" y="311353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2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678424" y="3442716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Remote Web Proxy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678424" y="388162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AI </a:t>
            </a:r>
            <a:r>
              <a:rPr lang="en-US" sz="850" dirty="0" err="1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웹서비스</a:t>
            </a:r>
            <a:r>
              <a:rPr lang="en-US" sz="8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850" dirty="0" err="1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격리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232904" y="2985516"/>
            <a:ext cx="1554480" cy="1417320"/>
          </a:xfrm>
          <a:prstGeom prst="roundRect">
            <a:avLst>
              <a:gd name="adj" fmla="val 5806"/>
            </a:avLst>
          </a:prstGeom>
          <a:solidFill>
            <a:srgbClr val="F7F9FE"/>
          </a:solidFill>
          <a:ln w="12700">
            <a:solidFill>
              <a:srgbClr val="D9E1F2"/>
            </a:solidFill>
            <a:prstDash val="solid"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7360920" y="3113532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7360920" y="311353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3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360920" y="3442716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Proxy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7360920" y="388162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API 통제 · 비용 관리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하위 제품 라인업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5개 하위 제품이 AI 사용의 모든 경로를 커버 — 각 제품이 해당 영역의 정책을 관리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4023360" cy="1078992"/>
          </a:xfrm>
          <a:prstGeom prst="roundRect">
            <a:avLst>
              <a:gd name="adj" fmla="val 7627"/>
            </a:avLst>
          </a:prstGeom>
          <a:solidFill>
            <a:srgbClr val="F7F9FE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40080" y="1499616"/>
            <a:ext cx="502920" cy="502920"/>
          </a:xfrm>
          <a:prstGeom prst="ellipse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4996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98448" y="133502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Security Manager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298448" y="162763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보안 라인업의 정책 허브. 민감정보 검사 모델과 공통 검사 규정을 정의하고 전 제품에 배포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207008"/>
            <a:ext cx="4023360" cy="1078992"/>
          </a:xfrm>
          <a:prstGeom prst="roundRect">
            <a:avLst>
              <a:gd name="adj" fmla="val 7627"/>
            </a:avLst>
          </a:prstGeom>
          <a:solidFill>
            <a:srgbClr val="F7F9FE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846320" y="1499616"/>
            <a:ext cx="502920" cy="502920"/>
          </a:xfrm>
          <a:prstGeom prst="ellipse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846320" y="14996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04688" y="133502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N/W Monitor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504688" y="162763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전송 트래픽 모니터링·분석. </a:t>
            </a:r>
          </a:p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Shadow AI를 쉽게 찾는 Box </a:t>
            </a:r>
            <a:r>
              <a:rPr lang="en-US" sz="1000" dirty="0" err="1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형태</a:t>
            </a:r>
            <a:r>
              <a:rPr lang="en-US" sz="10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00" dirty="0" err="1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414016"/>
            <a:ext cx="4023360" cy="1078992"/>
          </a:xfrm>
          <a:prstGeom prst="roundRect">
            <a:avLst>
              <a:gd name="adj" fmla="val 7627"/>
            </a:avLst>
          </a:prstGeom>
          <a:solidFill>
            <a:srgbClr val="F7F9FE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40080" y="2706624"/>
            <a:ext cx="502920" cy="502920"/>
          </a:xfrm>
          <a:prstGeom prst="ellipse">
            <a:avLst/>
          </a:prstGeom>
          <a:solidFill>
            <a:srgbClr val="6C4D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0080" y="2706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98448" y="254203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Proxy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298448" y="283464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단말 설치형 AI Agent(codex 등) 통제. 데이터 접근·사용·전송까지 규정 기반 관리, DRM 연계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2414016"/>
            <a:ext cx="4023360" cy="1078992"/>
          </a:xfrm>
          <a:prstGeom prst="roundRect">
            <a:avLst>
              <a:gd name="adj" fmla="val 7627"/>
            </a:avLst>
          </a:prstGeom>
          <a:solidFill>
            <a:srgbClr val="F7F9FE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846320" y="2706624"/>
            <a:ext cx="502920" cy="502920"/>
          </a:xfrm>
          <a:prstGeom prst="ellipse">
            <a:avLst/>
          </a:prstGeom>
          <a:solidFill>
            <a:srgbClr val="6C4D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846320" y="2706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RW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04688" y="254203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Remote Web Proxy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504688" y="283464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AI 웹서비스를 원격 서버에서 격리 실행. </a:t>
            </a:r>
          </a:p>
          <a:p>
            <a:pPr marL="0" indent="0">
              <a:lnSpc>
                <a:spcPts val="1350"/>
              </a:lnSpc>
              <a:buNone/>
            </a:pPr>
            <a:r>
              <a:rPr lang="en-US" sz="1000" dirty="0" err="1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안전한</a:t>
            </a:r>
            <a:r>
              <a:rPr lang="en-US" sz="10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 </a:t>
            </a:r>
            <a:r>
              <a:rPr lang="ko-KR" altLang="en-US" sz="10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</a:t>
            </a:r>
            <a:r>
              <a:rPr lang="en-US" sz="1000" dirty="0" err="1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</a:t>
            </a:r>
            <a:r>
              <a:rPr lang="en-US" sz="10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00" dirty="0" err="1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621024"/>
            <a:ext cx="8321040" cy="1078992"/>
          </a:xfrm>
          <a:prstGeom prst="roundRect">
            <a:avLst>
              <a:gd name="adj" fmla="val 7627"/>
            </a:avLst>
          </a:prstGeom>
          <a:solidFill>
            <a:srgbClr val="F7F9FE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640080" y="3913632"/>
            <a:ext cx="502920" cy="502920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40080" y="3913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LP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98448" y="3749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Proxy  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298448" y="4041648"/>
            <a:ext cx="7269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LLM API 사용 통제. 신청·승인 기반 Key 발급, 비용·한도 관리, Provider 장애 전환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 유스케이스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 공통 7개 + 제품별 24개, 총 31개 유스케이스 정의 완료 (별첨: 유스케이스 명세서 v1.0)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3310128"/>
          </a:xfrm>
          <a:prstGeom prst="roundRect">
            <a:avLst>
              <a:gd name="adj" fmla="val 2486"/>
            </a:avLst>
          </a:prstGeom>
          <a:solidFill>
            <a:srgbClr val="1E2761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13232" y="138988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 공통 (전역)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13232" y="178308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대시보드 조회  —  사용 현황·위험·비용 원뷰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모니터링·이상행위 탐지  —  제품 간 상관 분석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검색  —  사용자·프롬프트·정책 결과 전역 검색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사용 현황 파악  —  어떤 AI가 어디서 얼마나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 및 추적  —  거버넌스 준수 검증·보고서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</a:t>
            </a: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상태 모니터링  —  장애·예산·위반 알림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63440" y="1234440"/>
            <a:ext cx="4023360" cy="3310128"/>
          </a:xfrm>
          <a:prstGeom prst="roundRect">
            <a:avLst>
              <a:gd name="adj" fmla="val 2486"/>
            </a:avLst>
          </a:prstGeom>
          <a:solidFill>
            <a:srgbClr val="F7F9FE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919472" y="138988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하위 제품별 (정책·운영)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19472" y="181051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Security Manager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92240" y="181051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 규정 관리 · </a:t>
            </a:r>
            <a:r>
              <a:rPr lang="en-US" sz="900" dirty="0" err="1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</a:t>
            </a:r>
            <a:r>
              <a:rPr lang="en-US" sz="9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관리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919472" y="2258568"/>
            <a:ext cx="3520440" cy="0"/>
          </a:xfrm>
          <a:prstGeom prst="line">
            <a:avLst/>
          </a:prstGeom>
          <a:noFill/>
          <a:ln w="9525">
            <a:solidFill>
              <a:srgbClr val="D9E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919472" y="2345436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N/W Monitor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2345436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수집·Shadow AI </a:t>
            </a:r>
            <a:r>
              <a:rPr lang="en-US" sz="900" dirty="0" err="1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탐지</a:t>
            </a:r>
            <a:r>
              <a:rPr lang="en-US" sz="9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900" dirty="0" err="1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919472" y="2793492"/>
            <a:ext cx="3520440" cy="0"/>
          </a:xfrm>
          <a:prstGeom prst="line">
            <a:avLst/>
          </a:prstGeom>
          <a:noFill/>
          <a:ln w="9525">
            <a:solidFill>
              <a:srgbClr val="D9E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919472" y="288036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Proxy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92240" y="28803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 err="1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</a:t>
            </a:r>
            <a:r>
              <a:rPr lang="en-US" sz="9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현황, 예외 승인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19472" y="3328416"/>
            <a:ext cx="3520440" cy="0"/>
          </a:xfrm>
          <a:prstGeom prst="line">
            <a:avLst/>
          </a:prstGeom>
          <a:noFill/>
          <a:ln w="9525">
            <a:solidFill>
              <a:srgbClr val="D9E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919472" y="3415284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Remote Web Proxy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92240" y="3415284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격리 대상·세션 제한 정책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919472" y="3863340"/>
            <a:ext cx="3520440" cy="0"/>
          </a:xfrm>
          <a:prstGeom prst="line">
            <a:avLst/>
          </a:prstGeom>
          <a:noFill/>
          <a:ln w="9525">
            <a:solidFill>
              <a:srgbClr val="D9E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919472" y="395020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Proxy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92240" y="395020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</a:t>
            </a:r>
            <a:r>
              <a:rPr lang="en-US" sz="900" dirty="0" err="1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신청→승인→Key</a:t>
            </a:r>
            <a:r>
              <a:rPr lang="en-US" sz="9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900" dirty="0" err="1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발급</a:t>
            </a:r>
            <a:endParaRPr lang="en-US" sz="900" dirty="0">
              <a:solidFill>
                <a:srgbClr val="5A6478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en-US" sz="900" dirty="0" err="1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</a:t>
            </a:r>
            <a:r>
              <a:rPr lang="en-US" sz="9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9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</a:t>
            </a:r>
            <a:r>
              <a:rPr lang="en-US" sz="9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개발 로드맵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가시성 확보(1단계) → 단말·웹 통제(2단계) → API·비용 거버넌스(3단계)로 점진 확장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1481328"/>
            <a:ext cx="7498080" cy="0"/>
          </a:xfrm>
          <a:prstGeom prst="line">
            <a:avLst/>
          </a:prstGeom>
          <a:noFill/>
          <a:ln w="25400">
            <a:solidFill>
              <a:srgbClr val="D9E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85800" y="1298448"/>
            <a:ext cx="384048" cy="384048"/>
          </a:xfrm>
          <a:prstGeom prst="ellipse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85800" y="1298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2651760" cy="2331720"/>
          </a:xfrm>
          <a:prstGeom prst="roundRect">
            <a:avLst>
              <a:gd name="adj" fmla="val 3529"/>
            </a:avLst>
          </a:prstGeom>
          <a:solidFill>
            <a:srgbClr val="F7F9FE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76656" y="19933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8E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 </a:t>
            </a:r>
            <a:r>
              <a:rPr lang="en-US" sz="10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Q3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76656" y="23042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가시성 · 정책 기반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6656" y="2670048"/>
            <a:ext cx="22677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Security Manager – </a:t>
            </a:r>
            <a:r>
              <a:rPr lang="ko-KR" altLang="en-US" sz="9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허브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 err="1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</a:t>
            </a:r>
            <a:r>
              <a:rPr lang="en-US" sz="9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공통: 통합 </a:t>
            </a:r>
            <a:r>
              <a:rPr lang="en-US" sz="950" dirty="0" err="1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대시보드·검색</a:t>
            </a:r>
            <a:endParaRPr lang="en-US" sz="950" dirty="0">
              <a:solidFill>
                <a:srgbClr val="5A6478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FontTx/>
              <a:buChar char="•"/>
            </a:pPr>
            <a:r>
              <a:rPr lang="en-US" altLang="ko-KR" sz="9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Proxy 1</a:t>
            </a:r>
            <a:r>
              <a:rPr lang="ko-KR" altLang="en-US" sz="9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 </a:t>
            </a:r>
            <a:r>
              <a:rPr lang="en-US" altLang="ko-KR" sz="9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9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전송 로깅</a:t>
            </a:r>
            <a:endParaRPr lang="en-US" altLang="ko-KR" sz="950" dirty="0">
              <a:solidFill>
                <a:srgbClr val="5A6478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FontTx/>
              <a:buChar char="•"/>
            </a:pPr>
            <a:r>
              <a:rPr lang="en-US" altLang="ko-KR" sz="9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Remote Web Proxy</a:t>
            </a:r>
          </a:p>
        </p:txBody>
      </p:sp>
      <p:sp>
        <p:nvSpPr>
          <p:cNvPr id="11" name="Shape 9"/>
          <p:cNvSpPr/>
          <p:nvPr/>
        </p:nvSpPr>
        <p:spPr>
          <a:xfrm>
            <a:off x="3520440" y="1298448"/>
            <a:ext cx="384048" cy="384048"/>
          </a:xfrm>
          <a:prstGeom prst="ellipse">
            <a:avLst/>
          </a:prstGeom>
          <a:solidFill>
            <a:srgbClr val="6C4D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520440" y="1298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91840" y="1828800"/>
            <a:ext cx="2651760" cy="2331720"/>
          </a:xfrm>
          <a:prstGeom prst="roundRect">
            <a:avLst>
              <a:gd name="adj" fmla="val 3529"/>
            </a:avLst>
          </a:prstGeom>
          <a:solidFill>
            <a:srgbClr val="F7F9FE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511296" y="19933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4D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  </a:t>
            </a:r>
            <a:r>
              <a:rPr lang="en-US" sz="10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Q4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11296" y="23042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단말 · </a:t>
            </a:r>
            <a:r>
              <a:rPr lang="ko-KR" altLang="en-US" sz="12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네트웍</a:t>
            </a:r>
            <a:r>
              <a:rPr lang="en-US" sz="12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채널 통제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11296" y="2670048"/>
            <a:ext cx="22677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FontTx/>
              <a:buChar char="•"/>
            </a:pPr>
            <a:r>
              <a:rPr lang="en-US" altLang="ko-KR" sz="9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N/W Monitor — </a:t>
            </a:r>
            <a:r>
              <a:rPr lang="en-US" altLang="ko-KR" sz="950" dirty="0" err="1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트래픽</a:t>
            </a:r>
            <a:r>
              <a:rPr lang="en-US" altLang="ko-KR" sz="9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950" dirty="0" err="1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분석·Shadow</a:t>
            </a:r>
            <a:r>
              <a:rPr lang="en-US" altLang="ko-KR" sz="9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 </a:t>
            </a:r>
            <a:r>
              <a:rPr lang="en-US" altLang="ko-KR" sz="950" dirty="0" err="1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탐지</a:t>
            </a:r>
            <a:endParaRPr lang="en-US" altLang="ko-KR" sz="950" dirty="0">
              <a:solidFill>
                <a:srgbClr val="5A6478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FontTx/>
              <a:buChar char="•"/>
            </a:pPr>
            <a:r>
              <a:rPr lang="en-US" altLang="ko-KR" sz="9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Proxy 2</a:t>
            </a:r>
            <a:r>
              <a:rPr lang="ko-KR" altLang="en-US" sz="9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 </a:t>
            </a:r>
            <a:r>
              <a:rPr lang="en-US" altLang="ko-KR" sz="9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9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전송 통제 </a:t>
            </a:r>
            <a:endParaRPr lang="en-US" altLang="ko-KR" sz="950" dirty="0">
              <a:solidFill>
                <a:srgbClr val="5A6478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FontTx/>
              <a:buChar char="•"/>
            </a:pPr>
            <a:r>
              <a:rPr lang="en-US" sz="950" dirty="0" err="1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</a:t>
            </a:r>
            <a:r>
              <a:rPr lang="en-US" sz="9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모니터링·이상행위 상관 분석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355080" y="129844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355080" y="1298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26480" y="1828800"/>
            <a:ext cx="2651760" cy="2331720"/>
          </a:xfrm>
          <a:prstGeom prst="roundRect">
            <a:avLst>
              <a:gd name="adj" fmla="val 3529"/>
            </a:avLst>
          </a:prstGeom>
          <a:solidFill>
            <a:srgbClr val="F7F9FE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345936" y="19933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9E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  </a:t>
            </a:r>
            <a:r>
              <a:rPr lang="en-US" sz="10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 H1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45936" y="23042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· 비용 거버넌스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45936" y="2670048"/>
            <a:ext cx="22677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Proxy — 통합 API, 신청·승인, 비용 통제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Provider 장애 전환·감사 자동화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 공통 기능 고도화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02336" y="444533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제품은 기존 검사 모델·수집 기술 자산을 재활용하여 빠른 시장 진입 가능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3291840"/>
            <a:ext cx="3291840" cy="3291840"/>
          </a:xfrm>
          <a:prstGeom prst="ellipse">
            <a:avLst/>
          </a:prstGeom>
          <a:solidFill>
            <a:srgbClr val="2B3A7A">
              <a:alpha val="5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8580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 및 요청사항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7772400" cy="713232"/>
          </a:xfrm>
          <a:prstGeom prst="roundRect">
            <a:avLst>
              <a:gd name="adj" fmla="val 11538"/>
            </a:avLst>
          </a:prstGeom>
          <a:solidFill>
            <a:srgbClr val="2B3A7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96112" y="1399032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96112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1234440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타당성   </a:t>
            </a: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DLP를 넘어서는 통합 AI 보안 카테고리 — CISO·CIO 구매층 확대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075688"/>
            <a:ext cx="7772400" cy="713232"/>
          </a:xfrm>
          <a:prstGeom prst="roundRect">
            <a:avLst>
              <a:gd name="adj" fmla="val 11538"/>
            </a:avLst>
          </a:prstGeom>
          <a:solidFill>
            <a:srgbClr val="2B3A7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96112" y="224028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96112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63040" y="2075688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타당성   </a:t>
            </a: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검사 모델·DRM·수집 기술 </a:t>
            </a:r>
            <a:r>
              <a:rPr lang="en-US" sz="12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자산</a:t>
            </a: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활용으로</a:t>
            </a: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1단계 조기 출시 가능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2916936"/>
            <a:ext cx="7772400" cy="713232"/>
          </a:xfrm>
          <a:prstGeom prst="roundRect">
            <a:avLst>
              <a:gd name="adj" fmla="val 11538"/>
            </a:avLst>
          </a:prstGeom>
          <a:solidFill>
            <a:srgbClr val="2B3A7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96112" y="308152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96112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63040" y="2916936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타당성   </a:t>
            </a: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정책(제품별) + 가시성(전역) </a:t>
            </a:r>
            <a:r>
              <a:rPr lang="en-US" sz="12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구조로</a:t>
            </a: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</a:t>
            </a: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락인 확보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39776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AI-R One 1단계(Security Manager · PC Proxy) 개발 착수 승인 및 상세 설계 착수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934</Words>
  <Application>Microsoft Office PowerPoint</Application>
  <PresentationFormat>화면 슬라이드 쇼(16:9)</PresentationFormat>
  <Paragraphs>174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AI-R One 개발 타당성 검토</dc:title>
  <dc:subject>PptxGenJS Presentation</dc:subject>
  <dc:creator>Fasoo 제품기획</dc:creator>
  <cp:lastModifiedBy>최우선</cp:lastModifiedBy>
  <cp:revision>3</cp:revision>
  <dcterms:created xsi:type="dcterms:W3CDTF">2026-07-02T10:04:18Z</dcterms:created>
  <dcterms:modified xsi:type="dcterms:W3CDTF">2026-07-03T05:44:18Z</dcterms:modified>
</cp:coreProperties>
</file>